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a361fad084a46" /><Relationship Type="http://schemas.openxmlformats.org/officeDocument/2006/relationships/extended-properties" Target="/docProps/app.xml" Id="R4e6a7b5705f5404b" /><Relationship Type="http://schemas.openxmlformats.org/officeDocument/2006/relationships/officeDocument" Target="/ppt/presentation.xml" Id="R9ca11b8d0f3046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5524fb8654360"/>
  </p:sldMasterIdLst>
  <p:notesMasterIdLst>
    <p:notesMasterId xmlns:r="http://schemas.openxmlformats.org/officeDocument/2006/relationships" r:id="R0369aaa623de4200"/>
  </p:notesMasterIdLst>
  <p:sldIdLst>
    <p:sldId xmlns:r="http://schemas.openxmlformats.org/officeDocument/2006/relationships" id="256" r:id="R721d839e78914e00"/>
    <p:sldId xmlns:r="http://schemas.openxmlformats.org/officeDocument/2006/relationships" id="257" r:id="R6e97e2dd9f6f4665"/>
    <p:sldId xmlns:r="http://schemas.openxmlformats.org/officeDocument/2006/relationships" id="258" r:id="R6145571c2a234998"/>
    <p:sldId xmlns:r="http://schemas.openxmlformats.org/officeDocument/2006/relationships" id="259" r:id="Rd5df216d9b95453c"/>
    <p:sldId xmlns:r="http://schemas.openxmlformats.org/officeDocument/2006/relationships" id="260" r:id="Reeaa9ef022314ad6"/>
    <p:sldId xmlns:r="http://schemas.openxmlformats.org/officeDocument/2006/relationships" id="261" r:id="R52e6469182f34881"/>
    <p:sldId xmlns:r="http://schemas.openxmlformats.org/officeDocument/2006/relationships" id="262" r:id="Re24e1276953e4c16"/>
    <p:sldId xmlns:r="http://schemas.openxmlformats.org/officeDocument/2006/relationships" id="263" r:id="R0d453627069f4cc3"/>
    <p:sldId xmlns:r="http://schemas.openxmlformats.org/officeDocument/2006/relationships" id="264" r:id="R9e686e687bcd4132"/>
    <p:sldId xmlns:r="http://schemas.openxmlformats.org/officeDocument/2006/relationships" id="265" r:id="R0cb43e5951e745d0"/>
    <p:sldId xmlns:r="http://schemas.openxmlformats.org/officeDocument/2006/relationships" id="266" r:id="Rf659099174e645ea"/>
    <p:sldId xmlns:r="http://schemas.openxmlformats.org/officeDocument/2006/relationships" id="267" r:id="R6fd4d6930bc941df"/>
    <p:sldId xmlns:r="http://schemas.openxmlformats.org/officeDocument/2006/relationships" id="268" r:id="R0a5cfdc374cc4a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c1b816ead8418a" /><Relationship Type="http://schemas.openxmlformats.org/officeDocument/2006/relationships/slideMaster" Target="/ppt/slideMasters/slideMaster1.xml" Id="R00c5524fb8654360" /><Relationship Type="http://schemas.openxmlformats.org/officeDocument/2006/relationships/notesMaster" Target="/ppt/notesMasters/notesMaster1.xml" Id="R0369aaa623de4200" /><Relationship Type="http://schemas.openxmlformats.org/officeDocument/2006/relationships/presProps" Target="/ppt/presProps.xml" Id="R023d5ff67ad74ee2" /><Relationship Type="http://schemas.openxmlformats.org/officeDocument/2006/relationships/tableStyles" Target="/ppt/tableStyles.xml" Id="R02345c04b30847b8" /><Relationship Type="http://schemas.openxmlformats.org/officeDocument/2006/relationships/slide" Target="/ppt/slides/slide1.xml" Id="R721d839e78914e00" /><Relationship Type="http://schemas.openxmlformats.org/officeDocument/2006/relationships/slide" Target="/ppt/slides/slide2.xml" Id="R6e97e2dd9f6f4665" /><Relationship Type="http://schemas.openxmlformats.org/officeDocument/2006/relationships/slide" Target="/ppt/slides/slide3.xml" Id="R6145571c2a234998" /><Relationship Type="http://schemas.openxmlformats.org/officeDocument/2006/relationships/slide" Target="/ppt/slides/slide4.xml" Id="Rd5df216d9b95453c" /><Relationship Type="http://schemas.openxmlformats.org/officeDocument/2006/relationships/slide" Target="/ppt/slides/slide5.xml" Id="Reeaa9ef022314ad6" /><Relationship Type="http://schemas.openxmlformats.org/officeDocument/2006/relationships/slide" Target="/ppt/slides/slide6.xml" Id="R52e6469182f34881" /><Relationship Type="http://schemas.openxmlformats.org/officeDocument/2006/relationships/slide" Target="/ppt/slides/slide7.xml" Id="Re24e1276953e4c16" /><Relationship Type="http://schemas.openxmlformats.org/officeDocument/2006/relationships/slide" Target="/ppt/slides/slide8.xml" Id="R0d453627069f4cc3" /><Relationship Type="http://schemas.openxmlformats.org/officeDocument/2006/relationships/slide" Target="/ppt/slides/slide9.xml" Id="R9e686e687bcd4132" /><Relationship Type="http://schemas.openxmlformats.org/officeDocument/2006/relationships/slide" Target="/ppt/slides/slide10.xml" Id="R0cb43e5951e745d0" /><Relationship Type="http://schemas.openxmlformats.org/officeDocument/2006/relationships/slide" Target="/ppt/slides/slide11.xml" Id="Rf659099174e645ea" /><Relationship Type="http://schemas.openxmlformats.org/officeDocument/2006/relationships/slide" Target="/ppt/slides/slide12.xml" Id="R6fd4d6930bc941df" /><Relationship Type="http://schemas.openxmlformats.org/officeDocument/2006/relationships/slide" Target="/ppt/slides/slide13.xml" Id="R0a5cfdc374cc4a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7940c92610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87807b5f04894" /><Relationship Type="http://schemas.openxmlformats.org/officeDocument/2006/relationships/notesMaster" Target="/ppt/notesMasters/notesMaster1.xml" Id="R781b642b51da42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a3bf52f9924431" /><Relationship Type="http://schemas.openxmlformats.org/officeDocument/2006/relationships/notesMaster" Target="/ppt/notesMasters/notesMaster1.xml" Id="Radada831f30049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6bf7f12eb34ef6" /><Relationship Type="http://schemas.openxmlformats.org/officeDocument/2006/relationships/notesMaster" Target="/ppt/notesMasters/notesMaster1.xml" Id="R3cc241d1662148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0d6e2970fb4cfd" /><Relationship Type="http://schemas.openxmlformats.org/officeDocument/2006/relationships/notesMaster" Target="/ppt/notesMasters/notesMaster1.xml" Id="R2831f4848577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31070f191545bb" /><Relationship Type="http://schemas.openxmlformats.org/officeDocument/2006/relationships/notesMaster" Target="/ppt/notesMasters/notesMaster1.xml" Id="R279d6feafcce43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aca203c40b4cb6" /><Relationship Type="http://schemas.openxmlformats.org/officeDocument/2006/relationships/notesMaster" Target="/ppt/notesMasters/notesMaster1.xml" Id="R4abb26072b4d4d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1b4700c83d4559" /><Relationship Type="http://schemas.openxmlformats.org/officeDocument/2006/relationships/notesMaster" Target="/ppt/notesMasters/notesMaster1.xml" Id="R8cde049fb81945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0d5b5385ca44b3" /><Relationship Type="http://schemas.openxmlformats.org/officeDocument/2006/relationships/notesMaster" Target="/ppt/notesMasters/notesMaster1.xml" Id="R8c50e1f22f3740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44c528ab2e4c22" /><Relationship Type="http://schemas.openxmlformats.org/officeDocument/2006/relationships/notesMaster" Target="/ppt/notesMasters/notesMaster1.xml" Id="R031aa4ed497d4c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d5232e0134e3d" /><Relationship Type="http://schemas.openxmlformats.org/officeDocument/2006/relationships/notesMaster" Target="/ppt/notesMasters/notesMaster1.xml" Id="Rf011f7473e1249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bd2b8c9b854228" /><Relationship Type="http://schemas.openxmlformats.org/officeDocument/2006/relationships/notesMaster" Target="/ppt/notesMasters/notesMaster1.xml" Id="Rc941d0fd6e284f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0820ab523b4c34" /><Relationship Type="http://schemas.openxmlformats.org/officeDocument/2006/relationships/notesMaster" Target="/ppt/notesMasters/notesMaster1.xml" Id="R2a53861f6ff348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c21950f5c94147" /><Relationship Type="http://schemas.openxmlformats.org/officeDocument/2006/relationships/notesMaster" Target="/ppt/notesMasters/notesMaster1.xml" Id="R445f5bdc18ce4f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os autores e a proposta. A entrega é desktop Java Swing, com banco PostgreSQL e demonstração fictícia. Não há loja publicada na internet.</a:t>
            </a:r>
          </a:p>
          <a:p xmlns:a="http://schemas.openxmlformats.org/drawingml/2006/main">
            <a:r>
              <a:t>Fonte: código e documentação do projeto, versão 11/10/2026. docs/MATRIZ_RASTREABILIDADE.md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permissões são verificadas também nos DAOs. Admin possui operações da equipe; cliente é identidade separada. Vendedor não altera estoque manual, categorias, produtos, usuários ou cupons.</a:t>
            </a:r>
          </a:p>
          <a:p xmlns:a="http://schemas.openxmlformats.org/drawingml/2006/main">
            <a:r>
              <a:t>Fonte: código e documentação do projeto, versão 11/10/2026. docs/MATRIZ_RASTREABILIDADE.md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catálogo e detalhes de produto. Cinco categorias com seis produtos por categoria. Produtos desativados permanecem no histórico. Catálogo e dados são de demonstração.</a:t>
            </a:r>
          </a:p>
          <a:p xmlns:a="http://schemas.openxmlformats.org/drawingml/2006/main">
            <a:r>
              <a:t>Fonte: código e documentação do projeto, versão 11/10/2026. docs/CATALOGO_APRESENTACAO.md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Demonstrar oleo, ÓLEO e argan oleo. A busca ignora acentos e caixa, aceita fragmentos e palavras fora de ordem; todos os termos precisam constar no nome. Categoria e preço continuam aplicados. Não é corretor ortográfico.</a:t>
            </a:r>
          </a:p>
          <a:p xmlns:a="http://schemas.openxmlformats.org/drawingml/2006/main">
            <a:r>
              <a:t>Fonte: código e documentação do projeto, versão 11/10/2026. docs/BUSCA_DE_PRODUTOS.md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carrinho é da sessão, não uma reserva de estoque persistente. No checkout são obrigatórios destinatário, telefone e endereço. A confirmação verifica preço, saldo e cliente ativo. Um UUID protege a confirmação repetida.</a:t>
            </a:r>
          </a:p>
          <a:p xmlns:a="http://schemas.openxmlformats.org/drawingml/2006/main">
            <a:r>
              <a:t>Fonte: código e documentação do projeto, versão 11/10/2026. docs/COMPRA_E_PAGAMENTO_SIMULADO.md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Crédito e boleto não têm desconto de pagamento, débito tem 5%, PIX 10%. Boleto fica pendente até confirmação pelo admin. Todos os pagamentos são simulações sem cobrança bancária. O exemplo de R$100 é matemático; a captura pode mostrar o valor de sua fixture.</a:t>
            </a:r>
          </a:p>
          <a:p xmlns:a="http://schemas.openxmlformats.org/drawingml/2006/main">
            <a:r>
              <a:t>Fonte: código e documentação do projeto, versão 11/10/2026. docs/PERFIL_E_CUPONS.md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Pagamento confirmado permite começar preparo. Cancelamento exige motivo, conserva valores e devolve estoque uma vez. Não existe devolução pós-envio. Histórico registra o responsável. Demonstrar com o número do pedido recém-criado.</a:t>
            </a:r>
          </a:p>
          <a:p xmlns:a="http://schemas.openxmlformats.org/drawingml/2006/main">
            <a:r>
              <a:t>Fonte: código e documentação do projeto, versão 11/10/2026. docs/GESTAO_E_CANCELAMENTO_PEDIDOS.md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os seletores agora visíveis acima da tabela. Quantidade digitada é aplicada, valores em reais, CPF ausente omitido. Balcão registra origem balcao, entregue e dinheiro confirmado simulado. Falha de gravação conserva itens para nova tentativa.</a:t>
            </a:r>
          </a:p>
          <a:p xmlns:a="http://schemas.openxmlformats.org/drawingml/2006/main">
            <a:r>
              <a:t>Fonte: código e documentação do projeto, versão 11/10/2026. docs/CORRECAO_TELA_BALCAO.md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Avaliação única editável por cliente/produto, comentário opcional e média pública sem dados pessoais. Cliente pode atualizar perfil e senha; o endereço anterior do pedido não muda.</a:t>
            </a:r>
          </a:p>
          <a:p xmlns:a="http://schemas.openxmlformats.org/drawingml/2006/main">
            <a:r>
              <a:t>Fonte: código e documentação do projeto, versão 11/10/2026. docs/AVALIACOES_E_NOTIFICACOES.md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Avisos são internos e atualizados manualmente. Marcar como lida vale para a identidade atual. Admin e vendedor têm leituras independentes. Alerta de estoque baixo é uma vez por episódio e rearma após reposição/mínimo. Não há e-mail/SMS.</a:t>
            </a:r>
          </a:p>
          <a:p xmlns:a="http://schemas.openxmlformats.org/drawingml/2006/main">
            <a:r>
              <a:t>Fonte: código e documentação do projeto, versão 11/10/2026. docs/AVALIACOES_E_NOTIFICACOES.md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carga acrescenta vinte clientes e sessenta pedidos; 18 avaliações e 40 favoritos. Receita conta total líquido confirmado não cancelado. Ranking é bruto; estoque crítico é atual. Valores mudam ao operar o sistema. Não prometer um total fixo após novas vendas.</a:t>
            </a:r>
          </a:p>
          <a:p xmlns:a="http://schemas.openxmlformats.org/drawingml/2006/main">
            <a:r>
              <a:t>Fonte: código e documentação do projeto, versão 11/10/2026. docs/DASHBOARD_RELATORIOS_E_NAVEGACAO.md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camadas trocam dados via código Java e JDBC, sem API web. São sete classes em model; demais conceitos usam tabelas/DTOs reais. schema_migrations é a décima sétima tabela técnica. Os requisitos e arquivos correspondentes estão na matriz.</a:t>
            </a:r>
          </a:p>
          <a:p xmlns:a="http://schemas.openxmlformats.org/drawingml/2006/main">
            <a:r>
              <a:t>Fonte: código e documentação do projeto, versão 11/10/2026. docs/DICIONARIO_BANCO.md; docs/EXECUTAR_VS_CODE.md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testes passaram nos cenários documentados; não afirmar ausência absoluta de qualquer erro. Demonstrar o sistema com as contas fictícias e reforçar que não há cobrança bancária, emissão fiscal ou transportadora.</a:t>
            </a:r>
          </a:p>
          <a:p xmlns:a="http://schemas.openxmlformats.org/drawingml/2006/main">
            <a:r>
              <a:t>Fonte: código e documentação do projeto, versão 11/10/2026. docs/MATRIZ_RASTREABILIDADE.md; docs/validacao-busca.txt; docs/validacao-simulacao-uso.txt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cc8ffa73941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be5c9f86746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f9103ae5d46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58884c67f43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9e67b20ba40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da5309a8344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F689EF-ED50-4CB3-A331-6AC35316D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403AEB-CED0-4CB1-8F23-48AD4663A2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244C1C-4957-4019-A36A-C65C3615F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C0CB83-722C-4F24-A000-E4758EE75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27231D-8757-4246-8BD3-8423B7CC4F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47377F-757B-4603-B803-65A179AD6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D6C6E8-4EF5-4CA4-97E1-393758CA0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039127-E946-4699-B415-FFCC9ADD83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7621E8-88E0-4939-A863-4053A1360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A82948-0D1A-42E8-8DBF-FB89F8C0CA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59b7f9ef2c431f" /><Relationship Type="http://schemas.openxmlformats.org/officeDocument/2006/relationships/slideLayout" Target="/ppt/slideLayouts/slideLayout1.xml" Id="R3b1d8cb6a0bb4f6f" /><Relationship Type="http://schemas.openxmlformats.org/officeDocument/2006/relationships/slideLayout" Target="/ppt/slideLayouts/slideLayout2.xml" Id="R3a60d75ab53e4a91" /><Relationship Type="http://schemas.openxmlformats.org/officeDocument/2006/relationships/slideLayout" Target="/ppt/slideLayouts/slideLayout3.xml" Id="R920fabf8b0d94aa4" /><Relationship Type="http://schemas.openxmlformats.org/officeDocument/2006/relationships/slideLayout" Target="/ppt/slideLayouts/slideLayout4.xml" Id="R1fc9116c449043a8" /><Relationship Type="http://schemas.openxmlformats.org/officeDocument/2006/relationships/slideLayout" Target="/ppt/slideLayouts/slideLayout5.xml" Id="Rb62d4930d8e04332" /><Relationship Type="http://schemas.openxmlformats.org/officeDocument/2006/relationships/slideLayout" Target="/ppt/slideLayouts/slideLayout6.xml" Id="Rb138ba176c1e47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1d8cb6a0bb4f6f"/>
    <p:sldLayoutId xmlns:r="http://schemas.openxmlformats.org/officeDocument/2006/relationships" id="2147483650" r:id="R3a60d75ab53e4a91"/>
    <p:sldLayoutId xmlns:r="http://schemas.openxmlformats.org/officeDocument/2006/relationships" id="2147483651" r:id="R920fabf8b0d94aa4"/>
    <p:sldLayoutId xmlns:r="http://schemas.openxmlformats.org/officeDocument/2006/relationships" id="2147483652" r:id="R1fc9116c449043a8"/>
    <p:sldLayoutId xmlns:r="http://schemas.openxmlformats.org/officeDocument/2006/relationships" id="2147483653" r:id="Rb62d4930d8e04332"/>
    <p:sldLayoutId xmlns:r="http://schemas.openxmlformats.org/officeDocument/2006/relationships" id="2147483654" r:id="Rb138ba176c1e47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fbbb659fb4f29" /><Relationship Type="http://schemas.openxmlformats.org/officeDocument/2006/relationships/image" Target="/ppt/media/image.png" Id="R10566f8793c3473f" /><Relationship Type="http://schemas.openxmlformats.org/officeDocument/2006/relationships/notesSlide" Target="/ppt/notesSlides/notesSlide1.xml" Id="R0b863d8722a949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6833400904500" /><Relationship Type="http://schemas.openxmlformats.org/officeDocument/2006/relationships/notesSlide" Target="/ppt/notesSlides/notesSlide2.xml" Id="R82d910bee97c47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5965ac7d1f4e41" /><Relationship Type="http://schemas.openxmlformats.org/officeDocument/2006/relationships/image" Target="/ppt/media/image2.png" Id="Rada2615c90a649a0" /><Relationship Type="http://schemas.openxmlformats.org/officeDocument/2006/relationships/notesSlide" Target="/ppt/notesSlides/notesSlide3.xml" Id="R7f075807e9e648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94177d4ac4d7e" /><Relationship Type="http://schemas.openxmlformats.org/officeDocument/2006/relationships/image" Target="/ppt/media/image3.png" Id="R1cbdd96233694fb6" /><Relationship Type="http://schemas.openxmlformats.org/officeDocument/2006/relationships/notesSlide" Target="/ppt/notesSlides/notesSlide4.xml" Id="R0482c21d97af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a0281744c4c81" /><Relationship Type="http://schemas.openxmlformats.org/officeDocument/2006/relationships/image" Target="/ppt/media/image4.png" Id="Rf136c05bf2dd465a" /><Relationship Type="http://schemas.openxmlformats.org/officeDocument/2006/relationships/notesSlide" Target="/ppt/notesSlides/notesSlide5.xml" Id="R57249063871c42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a89e7487c4744" /><Relationship Type="http://schemas.openxmlformats.org/officeDocument/2006/relationships/image" Target="/ppt/media/image5.png" Id="R9c02bf7db17c431c" /><Relationship Type="http://schemas.openxmlformats.org/officeDocument/2006/relationships/notesSlide" Target="/ppt/notesSlides/notesSlide6.xml" Id="R34d4c9bd017741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a245588b44502" /><Relationship Type="http://schemas.openxmlformats.org/officeDocument/2006/relationships/image" Target="/ppt/media/image6.png" Id="R73f0498fd1c84a96" /><Relationship Type="http://schemas.openxmlformats.org/officeDocument/2006/relationships/notesSlide" Target="/ppt/notesSlides/notesSlide7.xml" Id="R8bf25372596646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6f551664b4216" /><Relationship Type="http://schemas.openxmlformats.org/officeDocument/2006/relationships/image" Target="/ppt/media/image7.png" Id="R63562b3ecd824843" /><Relationship Type="http://schemas.openxmlformats.org/officeDocument/2006/relationships/notesSlide" Target="/ppt/notesSlides/notesSlide8.xml" Id="Rb3466bf0d52c45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22996f1134ba4" /><Relationship Type="http://schemas.openxmlformats.org/officeDocument/2006/relationships/image" Target="/ppt/media/image8.png" Id="R2cf8bf1e9009411e" /><Relationship Type="http://schemas.openxmlformats.org/officeDocument/2006/relationships/notesSlide" Target="/ppt/notesSlides/notesSlide9.xml" Id="R56143051585d4f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00573f944477c" /><Relationship Type="http://schemas.openxmlformats.org/officeDocument/2006/relationships/image" Target="/ppt/media/image9.png" Id="R47a2a2fe139e4afa" /><Relationship Type="http://schemas.openxmlformats.org/officeDocument/2006/relationships/notesSlide" Target="/ppt/notesSlides/notesSlide10.xml" Id="Rf56a69f00b7a47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2239b19034a2a" /><Relationship Type="http://schemas.openxmlformats.org/officeDocument/2006/relationships/image" Target="/ppt/media/image10.png" Id="Rd791ce4c8a254f2f" /><Relationship Type="http://schemas.openxmlformats.org/officeDocument/2006/relationships/notesSlide" Target="/ppt/notesSlides/notesSlide11.xml" Id="R8469f5e313f547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8b99203554d9a" /><Relationship Type="http://schemas.openxmlformats.org/officeDocument/2006/relationships/notesSlide" Target="/ppt/notesSlides/notesSlide12.xml" Id="Rc888e77fdc984d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8d99b4c464224" /><Relationship Type="http://schemas.openxmlformats.org/officeDocument/2006/relationships/notesSlide" Target="/ppt/notesSlides/notesSlide13.xml" Id="R8f7bda0b6dcd48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otBarato">
            <a:extLst xmlns:a="http://schemas.openxmlformats.org/drawingml/2006/main">
              <a:ext uri="{FF2B5EF4-FFF2-40B4-BE49-F238E27FC236}">
                <a16:creationId xmlns:a16="http://schemas.microsoft.com/office/drawing/2014/main" id="{BF2B280B-06AF-4C24-BFBC-4400E431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OBotBarato</a:t>
            </a:r>
          </a:p>
        </p:txBody>
      </p:sp>
      <p:sp>
        <p:nvSpPr>
          <p:cNvPr id="2" name="Sistema desktop de perfumaria">
            <a:extLst xmlns:a="http://schemas.openxmlformats.org/drawingml/2006/main">
              <a:ext uri="{FF2B5EF4-FFF2-40B4-BE49-F238E27FC236}">
                <a16:creationId xmlns:a16="http://schemas.microsoft.com/office/drawing/2014/main" id="{06966D8C-0CD0-45C7-A1A5-AF496A70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Sistema desktop de perfumaria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F9A536C2-F5DD-49DB-A69C-F7EF2411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5B88639B-49BE-4F08-AE93-980FC10C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Giovana Paula Felix dos Santos&#10;Samuel da Silva Gui">
            <a:extLst xmlns:a="http://schemas.openxmlformats.org/drawingml/2006/main">
              <a:ext uri="{FF2B5EF4-FFF2-40B4-BE49-F238E27FC236}">
                <a16:creationId xmlns:a16="http://schemas.microsoft.com/office/drawing/2014/main" id="{808267B4-2E19-4FC4-BBC8-11FA17E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Giovana Paula Felix dos Santos</a:t>
            </a:r>
          </a:p>
          <a:p xmlns:a="http://schemas.openxmlformats.org/drawingml/2006/main">
            <a:pPr>
              <a:defRPr sz="24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Samuel da Silva Guimarães</a:t>
            </a:r>
          </a:p>
        </p:txBody>
      </p:sp>
      <p:sp>
        <p:nvSpPr>
          <p:cNvPr id="6" name="Sistemas de Informação&#10;Universidade Paranaense&#10;Par">
            <a:extLst xmlns:a="http://schemas.openxmlformats.org/drawingml/2006/main">
              <a:ext uri="{FF2B5EF4-FFF2-40B4-BE49-F238E27FC236}">
                <a16:creationId xmlns:a16="http://schemas.microsoft.com/office/drawing/2014/main" id="{1C50DDB1-ABE6-488A-9371-BE90516E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Sistemas de Informação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Universidade Paranaense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Paranavaí</a:t>
            </a:r>
          </a:p>
        </p:txBody>
      </p:sp>
      <p:sp>
        <p:nvSpPr>
          <p:cNvPr id="7" name="Orientação&#10;Prof. Me. Jaime William Dias">
            <a:extLst xmlns:a="http://schemas.openxmlformats.org/drawingml/2006/main">
              <a:ext uri="{FF2B5EF4-FFF2-40B4-BE49-F238E27FC236}">
                <a16:creationId xmlns:a16="http://schemas.microsoft.com/office/drawing/2014/main" id="{209A022C-C2A1-4448-A06C-71E9DD86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Orientação</a:t>
            </a:r>
          </a:p>
          <a:p xmlns:a="http://schemas.openxmlformats.org/drawingml/2006/main">
            <a:pPr>
              <a:defRPr sz="18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Prof. Me. Jaime William Dias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A03E8-6C08-4459-A7F7-EA45442CDD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66f8793c3473f"/>
          <a:stretch xmlns:a="http://schemas.openxmlformats.org/drawingml/2006/main"/>
        </p:blipFill>
        <p:spPr>
          <a:xfrm xmlns:a="http://schemas.openxmlformats.org/drawingml/2006/main">
            <a:off x="8286750" y="1889125"/>
            <a:ext cx="2952750" cy="393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37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atálogo vendas e estoque no mesmo sistema">
            <a:extLst xmlns:a="http://schemas.openxmlformats.org/drawingml/2006/main">
              <a:ext uri="{FF2B5EF4-FFF2-40B4-BE49-F238E27FC236}">
                <a16:creationId xmlns:a16="http://schemas.microsoft.com/office/drawing/2014/main" id="{8DEAA0EE-481B-4959-99BA-FEBF8843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Catálogo vendas e estoque no mesmo sistema</a:t>
            </a:r>
          </a:p>
        </p:txBody>
      </p:sp>
      <p:sp>
        <p:nvSpPr>
          <p:cNvPr id="2" name="Três perfis com responsabilidades distintas">
            <a:extLst xmlns:a="http://schemas.openxmlformats.org/drawingml/2006/main">
              <a:ext uri="{FF2B5EF4-FFF2-40B4-BE49-F238E27FC236}">
                <a16:creationId xmlns:a16="http://schemas.microsoft.com/office/drawing/2014/main" id="{73DD0704-7337-4D9C-BA3C-BC5F13E6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Três perfis com responsabilidades distintas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66AAA47A-8F1A-41AE-A93C-EB5E12E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173BDF6A-11B7-464A-A641-24079EC9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dministrador">
            <a:extLst xmlns:a="http://schemas.openxmlformats.org/drawingml/2006/main">
              <a:ext uri="{FF2B5EF4-FFF2-40B4-BE49-F238E27FC236}">
                <a16:creationId xmlns:a16="http://schemas.microsoft.com/office/drawing/2014/main" id="{87C6E8B6-EF8B-4771-BA29-8FD94377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6" name="Cadastros e configurações&#10;Estoque e cupons&#10;Acesso ">
            <a:extLst xmlns:a="http://schemas.openxmlformats.org/drawingml/2006/main">
              <a:ext uri="{FF2B5EF4-FFF2-40B4-BE49-F238E27FC236}">
                <a16:creationId xmlns:a16="http://schemas.microsoft.com/office/drawing/2014/main" id="{3D9B702E-1473-492C-8876-33A8CE1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666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Cadastros e configurações</a:t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Estoque e cupons</a:t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Acesso e boleto simulado</a:t>
            </a:r>
          </a:p>
        </p:txBody>
      </p:sp>
      <p:sp>
        <p:nvSpPr>
          <p:cNvPr id="7" name="Vendedor">
            <a:extLst xmlns:a="http://schemas.openxmlformats.org/drawingml/2006/main">
              <a:ext uri="{FF2B5EF4-FFF2-40B4-BE49-F238E27FC236}">
                <a16:creationId xmlns:a16="http://schemas.microsoft.com/office/drawing/2014/main" id="{577760C3-9928-4C47-98D0-D6BB2870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Vendedor</a:t>
            </a:r>
          </a:p>
        </p:txBody>
      </p:sp>
      <p:sp>
        <p:nvSpPr>
          <p:cNvPr id="8" name="Atendimento e balcão&#10;Acompanhamento de pedidos&#10;Con">
            <a:extLst xmlns:a="http://schemas.openxmlformats.org/drawingml/2006/main">
              <a:ext uri="{FF2B5EF4-FFF2-40B4-BE49-F238E27FC236}">
                <a16:creationId xmlns:a16="http://schemas.microsoft.com/office/drawing/2014/main" id="{40B0F794-D6C8-4B9A-B6A0-4FA3114D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666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Atendimento e balcão</a:t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Acompanhamento de pedidos</a:t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Consultas gerenciais</a:t>
            </a:r>
          </a:p>
        </p:txBody>
      </p:sp>
      <p:sp>
        <p:nvSpPr>
          <p:cNvPr id="9" name="Cliente">
            <a:extLst xmlns:a="http://schemas.openxmlformats.org/drawingml/2006/main">
              <a:ext uri="{FF2B5EF4-FFF2-40B4-BE49-F238E27FC236}">
                <a16:creationId xmlns:a16="http://schemas.microsoft.com/office/drawing/2014/main" id="{509ED995-716F-4DB3-A64B-08FB0336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0" name="Loja e compras próprias&#10;Perfil favoritos e avaliaç">
            <a:extLst xmlns:a="http://schemas.openxmlformats.org/drawingml/2006/main">
              <a:ext uri="{FF2B5EF4-FFF2-40B4-BE49-F238E27FC236}">
                <a16:creationId xmlns:a16="http://schemas.microsoft.com/office/drawing/2014/main" id="{B9848955-D37C-4C6C-BD59-C78884A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666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Loja e compras próprias</a:t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Perfil favoritos e avaliações</a:t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Avisos e pedidos pessoais</a:t>
            </a:r>
          </a:p>
        </p:txBody>
      </p:sp>
    </p:spTree>
    <p:extLst>
      <p:ext uri="{BB962C8B-B14F-4D97-AF65-F5344CB8AC3E}">
        <p14:creationId xmlns:p14="http://schemas.microsoft.com/office/powerpoint/2010/main" val="1499092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tálogo com 30 produtos fictícios">
            <a:extLst xmlns:a="http://schemas.openxmlformats.org/drawingml/2006/main">
              <a:ext uri="{FF2B5EF4-FFF2-40B4-BE49-F238E27FC236}">
                <a16:creationId xmlns:a16="http://schemas.microsoft.com/office/drawing/2014/main" id="{48A658C5-B41B-434A-9CEA-A2972FD4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Catálogo com 30 produtos fictícios</a:t>
            </a:r>
          </a:p>
        </p:txBody>
      </p:sp>
      <p:sp>
        <p:nvSpPr>
          <p:cNvPr id="2" name="Imagens descrições preços e disponibilidade">
            <a:extLst xmlns:a="http://schemas.openxmlformats.org/drawingml/2006/main">
              <a:ext uri="{FF2B5EF4-FFF2-40B4-BE49-F238E27FC236}">
                <a16:creationId xmlns:a16="http://schemas.microsoft.com/office/drawing/2014/main" id="{8C96B390-9D78-410F-AF2C-23DBD48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Imagens descrições preços e disponibilidade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31387B87-96D2-4F76-A700-6B7B3159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70814764-663E-465F-8C9A-52189B8C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46235-C065-4C84-AD09-1AA37FE51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2615c90a649a0"/>
          <a:stretch xmlns:a="http://schemas.openxmlformats.org/drawingml/2006/main"/>
        </p:blipFill>
        <p:spPr>
          <a:xfrm xmlns:a="http://schemas.openxmlformats.org/drawingml/2006/main">
            <a:off x="2746863" y="1714500"/>
            <a:ext cx="6698273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89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uscar sem digitar o nome exato">
            <a:extLst xmlns:a="http://schemas.openxmlformats.org/drawingml/2006/main">
              <a:ext uri="{FF2B5EF4-FFF2-40B4-BE49-F238E27FC236}">
                <a16:creationId xmlns:a16="http://schemas.microsoft.com/office/drawing/2014/main" id="{DA666F8F-759F-4AF6-892F-00B9BC60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Buscar sem digitar o nome exato</a:t>
            </a:r>
          </a:p>
        </p:txBody>
      </p:sp>
      <p:sp>
        <p:nvSpPr>
          <p:cNvPr id="2" name="oleo ou argan oleo encontram Óleo para Pontas Arga">
            <a:extLst xmlns:a="http://schemas.openxmlformats.org/drawingml/2006/main">
              <a:ext uri="{FF2B5EF4-FFF2-40B4-BE49-F238E27FC236}">
                <a16:creationId xmlns:a16="http://schemas.microsoft.com/office/drawing/2014/main" id="{04F2FCC9-4B9E-4FD9-8906-BC75F76B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oleo ou argan oleo encontram Óleo para Pontas Argan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F66BF361-2D12-461A-9A4F-6BE9EC48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6C91D868-C59A-4F70-B02E-B09C444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49C93-CAF6-406F-8BBC-542BBAB9A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dd96233694fb6"/>
          <a:stretch xmlns:a="http://schemas.openxmlformats.org/drawingml/2006/main"/>
        </p:blipFill>
        <p:spPr>
          <a:xfrm xmlns:a="http://schemas.openxmlformats.org/drawingml/2006/main">
            <a:off x="2454724" y="1666875"/>
            <a:ext cx="7282551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77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mprar com revisão antes de confirmar">
            <a:extLst xmlns:a="http://schemas.openxmlformats.org/drawingml/2006/main">
              <a:ext uri="{FF2B5EF4-FFF2-40B4-BE49-F238E27FC236}">
                <a16:creationId xmlns:a16="http://schemas.microsoft.com/office/drawing/2014/main" id="{64495129-E075-4747-B278-0E344A47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Comprar com revisão antes de confirmar</a:t>
            </a:r>
          </a:p>
        </p:txBody>
      </p:sp>
      <p:sp>
        <p:nvSpPr>
          <p:cNvPr id="2" name="Carrinho entrega e condições revalidados no banco">
            <a:extLst xmlns:a="http://schemas.openxmlformats.org/drawingml/2006/main">
              <a:ext uri="{FF2B5EF4-FFF2-40B4-BE49-F238E27FC236}">
                <a16:creationId xmlns:a16="http://schemas.microsoft.com/office/drawing/2014/main" id="{AF537707-CE91-4D3F-9193-93D3DC77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Carrinho entrega e condições revalidados no banco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9103B3B2-CB66-403E-B905-3A08A029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5F7AE239-8C15-453F-8CAD-3903FDCD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1  Escolher produtos&#10;&#10;2  Conferir quantidade&#10;&#10;3  I">
            <a:extLst xmlns:a="http://schemas.openxmlformats.org/drawingml/2006/main">
              <a:ext uri="{FF2B5EF4-FFF2-40B4-BE49-F238E27FC236}">
                <a16:creationId xmlns:a16="http://schemas.microsoft.com/office/drawing/2014/main" id="{9B811641-571C-409F-B1EF-7E4243D9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1  Escolher produtos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2  Conferir quantidade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3  Informar entrega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4  Revisar e confirmar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2DE49-0BEA-4E47-B8DA-59CDECBA02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6c05bf2dd465a"/>
          <a:stretch xmlns:a="http://schemas.openxmlformats.org/drawingml/2006/main"/>
        </p:blipFill>
        <p:spPr>
          <a:xfrm xmlns:a="http://schemas.openxmlformats.org/drawingml/2006/main">
            <a:off x="5433135" y="1714500"/>
            <a:ext cx="4849981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4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sconto do cupom antes do pagamento">
            <a:extLst xmlns:a="http://schemas.openxmlformats.org/drawingml/2006/main">
              <a:ext uri="{FF2B5EF4-FFF2-40B4-BE49-F238E27FC236}">
                <a16:creationId xmlns:a16="http://schemas.microsoft.com/office/drawing/2014/main" id="{55019AA6-76F3-424D-AB65-C870B663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Desconto do cupom antes do pagamento</a:t>
            </a:r>
          </a:p>
        </p:txBody>
      </p:sp>
      <p:sp>
        <p:nvSpPr>
          <p:cNvPr id="2" name="Exemplo com subtotal R$ 100,00 e cupom de 10%">
            <a:extLst xmlns:a="http://schemas.openxmlformats.org/drawingml/2006/main">
              <a:ext uri="{FF2B5EF4-FFF2-40B4-BE49-F238E27FC236}">
                <a16:creationId xmlns:a16="http://schemas.microsoft.com/office/drawing/2014/main" id="{5C43E105-A823-4665-AEAD-8987A2F5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Exemplo com subtotal R$ 100,00 e cupom de 10%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47AE57B7-0F9B-42AB-BB14-7DA6ECF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1522063D-831F-4D13-B908-E01ABF37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$ 100,00">
            <a:extLst xmlns:a="http://schemas.openxmlformats.org/drawingml/2006/main">
              <a:ext uri="{FF2B5EF4-FFF2-40B4-BE49-F238E27FC236}">
                <a16:creationId xmlns:a16="http://schemas.microsoft.com/office/drawing/2014/main" id="{3294F0EF-5327-4E62-B621-C84955B2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R$ 100,00</a:t>
            </a:r>
          </a:p>
        </p:txBody>
      </p:sp>
      <p:sp>
        <p:nvSpPr>
          <p:cNvPr id="6" name="Cupom 10%&#10;R$ 10,00 de desconto&#10;&#10;PIX 10% sobre R$ 9">
            <a:extLst xmlns:a="http://schemas.openxmlformats.org/drawingml/2006/main">
              <a:ext uri="{FF2B5EF4-FFF2-40B4-BE49-F238E27FC236}">
                <a16:creationId xmlns:a16="http://schemas.microsoft.com/office/drawing/2014/main" id="{101797A2-579F-4792-B7F2-DA069C0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4000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Cupom 10%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R$ 10,00 de desconto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PIX 10% sobre R$ 90,00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R$ 9,00 de desconto</a:t>
            </a:r>
          </a:p>
        </p:txBody>
      </p:sp>
      <p:sp>
        <p:nvSpPr>
          <p:cNvPr id="7" name="Total R$ 81,00">
            <a:extLst xmlns:a="http://schemas.openxmlformats.org/drawingml/2006/main">
              <a:ext uri="{FF2B5EF4-FFF2-40B4-BE49-F238E27FC236}">
                <a16:creationId xmlns:a16="http://schemas.microsoft.com/office/drawing/2014/main" id="{51F45F38-E1A1-403B-87CF-CB239C9D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Total R$ 81,00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D3F89-1F5C-4759-9F89-23E67B2D6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2bf7db17c431c"/>
          <a:stretch xmlns:a="http://schemas.openxmlformats.org/drawingml/2006/main"/>
        </p:blipFill>
        <p:spPr>
          <a:xfrm xmlns:a="http://schemas.openxmlformats.org/drawingml/2006/main">
            <a:off x="6126533" y="1762125"/>
            <a:ext cx="4796684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53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edido pago e entrega são estados separados">
            <a:extLst xmlns:a="http://schemas.openxmlformats.org/drawingml/2006/main">
              <a:ext uri="{FF2B5EF4-FFF2-40B4-BE49-F238E27FC236}">
                <a16:creationId xmlns:a16="http://schemas.microsoft.com/office/drawing/2014/main" id="{33CB13DD-871D-4302-B48E-B8C21A6C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Pedido pago e entrega são estados separados</a:t>
            </a:r>
          </a:p>
        </p:txBody>
      </p:sp>
      <p:sp>
        <p:nvSpPr>
          <p:cNvPr id="2" name="A equipe avança uma etapa por vez">
            <a:extLst xmlns:a="http://schemas.openxmlformats.org/drawingml/2006/main">
              <a:ext uri="{FF2B5EF4-FFF2-40B4-BE49-F238E27FC236}">
                <a16:creationId xmlns:a16="http://schemas.microsoft.com/office/drawing/2014/main" id="{00CB43E5-408F-46BE-ADA2-06A1E9A3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A equipe avança uma etapa por vez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A119E68E-2AD6-4398-8A9B-2A190C4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8EE76490-99DB-46AE-AB94-EC628F2D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Aberto&#10;&#10;Em preparo&#10;&#10;Enviado&#10;&#10;Entregue">
            <a:extLst xmlns:a="http://schemas.openxmlformats.org/drawingml/2006/main">
              <a:ext uri="{FF2B5EF4-FFF2-40B4-BE49-F238E27FC236}">
                <a16:creationId xmlns:a16="http://schemas.microsoft.com/office/drawing/2014/main" id="{6E2C4419-4189-4CF9-8D5B-4EEEBC2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2385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Aberto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Em preparo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Enviado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Entregue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587CA-2FE1-467E-9E9A-4B4F6A2F2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498fd1c84a96"/>
          <a:stretch xmlns:a="http://schemas.openxmlformats.org/drawingml/2006/main"/>
        </p:blipFill>
        <p:spPr>
          <a:xfrm xmlns:a="http://schemas.openxmlformats.org/drawingml/2006/main">
            <a:off x="4462369" y="1762125"/>
            <a:ext cx="6505761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Cliente cancela próprio aberto. Equipe cancela ant">
            <a:extLst xmlns:a="http://schemas.openxmlformats.org/drawingml/2006/main">
              <a:ext uri="{FF2B5EF4-FFF2-40B4-BE49-F238E27FC236}">
                <a16:creationId xmlns:a16="http://schemas.microsoft.com/office/drawing/2014/main" id="{D94BD9B6-EDDD-4422-8439-11BD74A1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007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Cliente cancela próprio aberto. Equipe cancela antes do envio.</a:t>
            </a:r>
          </a:p>
        </p:txBody>
      </p:sp>
    </p:spTree>
    <p:extLst>
      <p:ext uri="{BB962C8B-B14F-4D97-AF65-F5344CB8AC3E}">
        <p14:creationId xmlns:p14="http://schemas.microsoft.com/office/powerpoint/2010/main" val="618653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enda de balcão com retirada imediata">
            <a:extLst xmlns:a="http://schemas.openxmlformats.org/drawingml/2006/main">
              <a:ext uri="{FF2B5EF4-FFF2-40B4-BE49-F238E27FC236}">
                <a16:creationId xmlns:a16="http://schemas.microsoft.com/office/drawing/2014/main" id="{D946783A-9782-450A-A1B9-B2A7447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Venda de balcão com retirada imediata</a:t>
            </a:r>
          </a:p>
        </p:txBody>
      </p:sp>
      <p:sp>
        <p:nvSpPr>
          <p:cNvPr id="2" name="Selecionar cliente produto e quantidade antes de c">
            <a:extLst xmlns:a="http://schemas.openxmlformats.org/drawingml/2006/main">
              <a:ext uri="{FF2B5EF4-FFF2-40B4-BE49-F238E27FC236}">
                <a16:creationId xmlns:a16="http://schemas.microsoft.com/office/drawing/2014/main" id="{9DA05685-DFC4-4D48-934C-4554DD48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Selecionar cliente produto e quantidade antes de concluir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909FDEBE-E27F-4761-97C8-E0316D82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89D350F6-BFC6-42B4-A679-51B5EF71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5250E-B154-4083-B6F7-CD72CB213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62b3ecd824843"/>
          <a:stretch xmlns:a="http://schemas.openxmlformats.org/drawingml/2006/main"/>
        </p:blipFill>
        <p:spPr>
          <a:xfrm xmlns:a="http://schemas.openxmlformats.org/drawingml/2006/main">
            <a:off x="3050538" y="1666875"/>
            <a:ext cx="6090925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26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erfil favoritos e avaliações verificadas">
            <a:extLst xmlns:a="http://schemas.openxmlformats.org/drawingml/2006/main">
              <a:ext uri="{FF2B5EF4-FFF2-40B4-BE49-F238E27FC236}">
                <a16:creationId xmlns:a16="http://schemas.microsoft.com/office/drawing/2014/main" id="{9971D98A-05F9-418F-A50A-1448EE44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Perfil favoritos e avaliações verificadas</a:t>
            </a:r>
          </a:p>
        </p:txBody>
      </p:sp>
      <p:sp>
        <p:nvSpPr>
          <p:cNvPr id="2" name="O cliente acessa somente seus dados e compras">
            <a:extLst xmlns:a="http://schemas.openxmlformats.org/drawingml/2006/main">
              <a:ext uri="{FF2B5EF4-FFF2-40B4-BE49-F238E27FC236}">
                <a16:creationId xmlns:a16="http://schemas.microsoft.com/office/drawing/2014/main" id="{E2C2F60C-F084-4D86-9DBB-59F3DB02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 cliente acessa somente seus dados e compras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C6D1EE83-B7AB-424D-86E5-6CEC59D0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320E9659-DAAE-4604-967C-E58F165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127FC-BC30-4EC6-B397-343CA4B86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8bf1e9009411e"/>
          <a:stretch xmlns:a="http://schemas.openxmlformats.org/drawingml/2006/main"/>
        </p:blipFill>
        <p:spPr>
          <a:xfrm xmlns:a="http://schemas.openxmlformats.org/drawingml/2006/main">
            <a:off x="5486955" y="1809750"/>
            <a:ext cx="5123339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Perfil com senha atual&#10;&#10;Favoritos persistidos&#10;&#10;Not">
            <a:extLst xmlns:a="http://schemas.openxmlformats.org/drawingml/2006/main">
              <a:ext uri="{FF2B5EF4-FFF2-40B4-BE49-F238E27FC236}">
                <a16:creationId xmlns:a16="http://schemas.microsoft.com/office/drawing/2014/main" id="{00D988AE-9D58-44E4-8F01-DBEA0A49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714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Perfil com senha atual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Favoritos persistidos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Nota de 1 a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Compra entregue e paga</a:t>
            </a:r>
          </a:p>
        </p:txBody>
      </p:sp>
    </p:spTree>
    <p:extLst>
      <p:ext uri="{BB962C8B-B14F-4D97-AF65-F5344CB8AC3E}">
        <p14:creationId xmlns:p14="http://schemas.microsoft.com/office/powerpoint/2010/main" val="218565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visos internos com leitura individual">
            <a:extLst xmlns:a="http://schemas.openxmlformats.org/drawingml/2006/main">
              <a:ext uri="{FF2B5EF4-FFF2-40B4-BE49-F238E27FC236}">
                <a16:creationId xmlns:a16="http://schemas.microsoft.com/office/drawing/2014/main" id="{8811DE89-3B25-4D11-8356-8323BD4A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Avisos internos com leitura individual</a:t>
            </a:r>
          </a:p>
        </p:txBody>
      </p:sp>
      <p:sp>
        <p:nvSpPr>
          <p:cNvPr id="2" name="Eventos de pedidos pagamentos e estoque baixo">
            <a:extLst xmlns:a="http://schemas.openxmlformats.org/drawingml/2006/main">
              <a:ext uri="{FF2B5EF4-FFF2-40B4-BE49-F238E27FC236}">
                <a16:creationId xmlns:a16="http://schemas.microsoft.com/office/drawing/2014/main" id="{C34ABD07-5CA9-46BA-81D6-0373A687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Eventos de pedidos pagamentos e estoque baixo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6B436620-95E5-40D6-85B8-33D9CD84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ACCBF8AB-ACF6-4953-B933-685193C0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135E0-4718-4350-99D1-B5FC6925D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2a2fe139e4afa"/>
          <a:stretch xmlns:a="http://schemas.openxmlformats.org/drawingml/2006/main"/>
        </p:blipFill>
        <p:spPr>
          <a:xfrm xmlns:a="http://schemas.openxmlformats.org/drawingml/2006/main">
            <a:off x="2237144" y="1714500"/>
            <a:ext cx="7717712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833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Indicadores a partir das vendas registradas">
            <a:extLst xmlns:a="http://schemas.openxmlformats.org/drawingml/2006/main">
              <a:ext uri="{FF2B5EF4-FFF2-40B4-BE49-F238E27FC236}">
                <a16:creationId xmlns:a16="http://schemas.microsoft.com/office/drawing/2014/main" id="{654B5293-B233-4FFD-BF06-A9679BD0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Indicadores a partir das vendas registradas</a:t>
            </a:r>
          </a:p>
        </p:txBody>
      </p:sp>
      <p:sp>
        <p:nvSpPr>
          <p:cNvPr id="2" name="Dados fictícios para demonstrar uso diário">
            <a:extLst xmlns:a="http://schemas.openxmlformats.org/drawingml/2006/main">
              <a:ext uri="{FF2B5EF4-FFF2-40B4-BE49-F238E27FC236}">
                <a16:creationId xmlns:a16="http://schemas.microsoft.com/office/drawing/2014/main" id="{B4E17991-A0E0-4155-9188-E72AF2F3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Dados fictícios para demonstrar uso diário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636F4C0E-1230-4B61-8CEF-E9304B2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AFA32D82-FDE8-4C6F-81E0-B8EA01A1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61F61-0B99-4600-A204-567427ECB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1ce4c8a254f2f"/>
          <a:stretch xmlns:a="http://schemas.openxmlformats.org/drawingml/2006/main"/>
        </p:blipFill>
        <p:spPr>
          <a:xfrm xmlns:a="http://schemas.openxmlformats.org/drawingml/2006/main">
            <a:off x="2667976" y="1666875"/>
            <a:ext cx="6856048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59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Java Swing JDBC e PostgreSQL">
            <a:extLst xmlns:a="http://schemas.openxmlformats.org/drawingml/2006/main">
              <a:ext uri="{FF2B5EF4-FFF2-40B4-BE49-F238E27FC236}">
                <a16:creationId xmlns:a16="http://schemas.microsoft.com/office/drawing/2014/main" id="{02E0111B-B29E-4E75-8375-64ED67D2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Java Swing JDBC e PostgreSQL</a:t>
            </a:r>
          </a:p>
        </p:txBody>
      </p:sp>
      <p:sp>
        <p:nvSpPr>
          <p:cNvPr id="2" name="Execução e depuração configuradas no VS Code">
            <a:extLst xmlns:a="http://schemas.openxmlformats.org/drawingml/2006/main">
              <a:ext uri="{FF2B5EF4-FFF2-40B4-BE49-F238E27FC236}">
                <a16:creationId xmlns:a16="http://schemas.microsoft.com/office/drawing/2014/main" id="{955CCAF2-327E-423E-9F35-B3E23EB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Execução e depuração configuradas no VS Code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07468D21-976D-4E80-8E6D-F2B1438C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5363A5A2-D714-4B30-9CD0-5DFF0C42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Interface Swing">
            <a:extLst xmlns:a="http://schemas.openxmlformats.org/drawingml/2006/main">
              <a:ext uri="{FF2B5EF4-FFF2-40B4-BE49-F238E27FC236}">
                <a16:creationId xmlns:a16="http://schemas.microsoft.com/office/drawing/2014/main" id="{08A5AB57-CAA9-4AF2-9377-4B6593A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Interface Swing</a:t>
            </a:r>
          </a:p>
        </p:txBody>
      </p:sp>
      <p:sp>
        <p:nvSpPr>
          <p:cNvPr id="6" name="Telas e navegação&#10;Carrinho da sessão">
            <a:extLst xmlns:a="http://schemas.openxmlformats.org/drawingml/2006/main">
              <a:ext uri="{FF2B5EF4-FFF2-40B4-BE49-F238E27FC236}">
                <a16:creationId xmlns:a16="http://schemas.microsoft.com/office/drawing/2014/main" id="{F27B41B4-9AF5-4978-9F1B-AF2B028A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Telas e navegação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Carrinho da sessão</a:t>
            </a:r>
          </a:p>
        </p:txBody>
      </p:sp>
      <p:sp>
        <p:nvSpPr>
          <p:cNvPr id="7" name="DAOs e regras">
            <a:extLst xmlns:a="http://schemas.openxmlformats.org/drawingml/2006/main">
              <a:ext uri="{FF2B5EF4-FFF2-40B4-BE49-F238E27FC236}">
                <a16:creationId xmlns:a16="http://schemas.microsoft.com/office/drawing/2014/main" id="{EE5C67FE-EF28-4F90-8176-CE2025ED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DAOs e regras</a:t>
            </a:r>
          </a:p>
        </p:txBody>
      </p:sp>
      <p:sp>
        <p:nvSpPr>
          <p:cNvPr id="8" name="Permissões e validações&#10;Transação com JDBC">
            <a:extLst xmlns:a="http://schemas.openxmlformats.org/drawingml/2006/main">
              <a:ext uri="{FF2B5EF4-FFF2-40B4-BE49-F238E27FC236}">
                <a16:creationId xmlns:a16="http://schemas.microsoft.com/office/drawing/2014/main" id="{B8F61185-0E38-4502-A249-C15DBB00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Permissões e validações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Transação com JDBC</a:t>
            </a:r>
          </a:p>
        </p:txBody>
      </p:sp>
      <p:sp>
        <p:nvSpPr>
          <p:cNvPr id="9" name="PostgreSQL">
            <a:extLst xmlns:a="http://schemas.openxmlformats.org/drawingml/2006/main">
              <a:ext uri="{FF2B5EF4-FFF2-40B4-BE49-F238E27FC236}">
                <a16:creationId xmlns:a16="http://schemas.microsoft.com/office/drawing/2014/main" id="{DF8FD399-0917-4EC3-B05A-247D6787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0" name="16 tabelas de negócio&#10;Migrations V001 a V006">
            <a:extLst xmlns:a="http://schemas.openxmlformats.org/drawingml/2006/main">
              <a:ext uri="{FF2B5EF4-FFF2-40B4-BE49-F238E27FC236}">
                <a16:creationId xmlns:a16="http://schemas.microsoft.com/office/drawing/2014/main" id="{4D07DB5D-1275-442B-B625-1DA67392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16 tabelas de negócio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Migrations V001 a V006</a:t>
            </a:r>
          </a:p>
        </p:txBody>
      </p:sp>
      <p:sp>
        <p:nvSpPr>
          <p:cNvPr id="11" name="Configuração externa  |  Backup e restauração em b">
            <a:extLst xmlns:a="http://schemas.openxmlformats.org/drawingml/2006/main">
              <a:ext uri="{FF2B5EF4-FFF2-40B4-BE49-F238E27FC236}">
                <a16:creationId xmlns:a16="http://schemas.microsoft.com/office/drawing/2014/main" id="{6513D360-D6B9-45AE-BDC8-2AE10AD1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Configuração externa  |  Backup e restauração em banco novo</a:t>
            </a:r>
          </a:p>
        </p:txBody>
      </p:sp>
      <p:sp>
        <p:nvSpPr>
          <p:cNvPr id="12" name="F5 prepara o ambiente e abre a entrada oficial do ">
            <a:extLst xmlns:a="http://schemas.openxmlformats.org/drawingml/2006/main">
              <a:ext uri="{FF2B5EF4-FFF2-40B4-BE49-F238E27FC236}">
                <a16:creationId xmlns:a16="http://schemas.microsoft.com/office/drawing/2014/main" id="{85EBFAA3-F2A9-4E42-9682-8781A434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F5 prepara o ambiente e abre a entrada oficial do desktop.</a:t>
            </a:r>
          </a:p>
        </p:txBody>
      </p:sp>
    </p:spTree>
    <p:extLst>
      <p:ext uri="{BB962C8B-B14F-4D97-AF65-F5344CB8AC3E}">
        <p14:creationId xmlns:p14="http://schemas.microsoft.com/office/powerpoint/2010/main" val="2495507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alidação e limites da entrega">
            <a:extLst xmlns:a="http://schemas.openxmlformats.org/drawingml/2006/main">
              <a:ext uri="{FF2B5EF4-FFF2-40B4-BE49-F238E27FC236}">
                <a16:creationId xmlns:a16="http://schemas.microsoft.com/office/drawing/2014/main" id="{F0DFAF9D-B523-4392-AD65-5E953A61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Validação e limites da entrega</a:t>
            </a:r>
          </a:p>
        </p:txBody>
      </p:sp>
      <p:sp>
        <p:nvSpPr>
          <p:cNvPr id="2" name="Código documentação e diagramas conferidos em conj">
            <a:extLst xmlns:a="http://schemas.openxmlformats.org/drawingml/2006/main">
              <a:ext uri="{FF2B5EF4-FFF2-40B4-BE49-F238E27FC236}">
                <a16:creationId xmlns:a16="http://schemas.microsoft.com/office/drawing/2014/main" id="{1A470D76-E7E0-48D8-929B-9E8FD05D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Código documentação e diagramas conferidos em conjunto</a:t>
            </a:r>
          </a:p>
        </p:txBody>
      </p:sp>
      <p:sp>
        <p:nvSpPr>
          <p:cNvPr id="3" name="OBotBarato  |  UNIPAR  |  28/10/2026">
            <a:extLst xmlns:a="http://schemas.openxmlformats.org/drawingml/2006/main">
              <a:ext uri="{FF2B5EF4-FFF2-40B4-BE49-F238E27FC236}">
                <a16:creationId xmlns:a16="http://schemas.microsoft.com/office/drawing/2014/main" id="{5B24BF97-D769-417C-8B0D-C614C6A4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OBotBarato  |  UNIPAR  |  28/10/2026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E5A73624-E8DE-4F7E-A580-FBAFBCDB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102 cenários dos módulos&#10;8 cenários de busca&#10;9 cen">
            <a:extLst xmlns:a="http://schemas.openxmlformats.org/drawingml/2006/main">
              <a:ext uri="{FF2B5EF4-FFF2-40B4-BE49-F238E27FC236}">
                <a16:creationId xmlns:a16="http://schemas.microsoft.com/office/drawing/2014/main" id="{A7159390-A05B-4AE9-85BF-6BDCBF21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52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102 cenários dos módulos</a:t>
            </a:r>
          </a:p>
          <a:p xmlns:a="http://schemas.openxmlformats.org/drawingml/2006/main">
            <a:pPr>
              <a:defRPr sz="25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8 cenários de busca</a:t>
            </a:r>
          </a:p>
          <a:p xmlns:a="http://schemas.openxmlformats.org/drawingml/2006/main">
            <a:pPr>
              <a:defRPr sz="2550" b="1">
                <a:solidFill>
                  <a:srgbClr val="2459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9D9"/>
                </a:solidFill>
                <a:latin typeface="Arial"/>
                <a:ea typeface="Arial"/>
                <a:cs typeface="Arial"/>
              </a:rPr>
              <a:t>9 cenários de carga fictícia</a:t>
            </a:r>
          </a:p>
        </p:txBody>
      </p:sp>
      <p:sp>
        <p:nvSpPr>
          <p:cNvPr id="6" name="Rollback e concorrência&#10;Confirmação e devolução ún">
            <a:extLst xmlns:a="http://schemas.openxmlformats.org/drawingml/2006/main">
              <a:ext uri="{FF2B5EF4-FFF2-40B4-BE49-F238E27FC236}">
                <a16:creationId xmlns:a16="http://schemas.microsoft.com/office/drawing/2014/main" id="{56A3F893-AEEE-431D-AF93-A664D2D0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48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Rollback e concorrência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Confirmação e devolução únicas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Permissões e histórico</a:t>
            </a:r>
          </a:p>
          <a:p xmlns:a="http://schemas.openxmlformats.org/drawingml/2006/main">
            <a:pPr>
              <a:defRPr sz="2100" b="0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049"/>
                </a:solidFill>
                <a:latin typeface="Arial"/>
                <a:ea typeface="Arial"/>
                <a:cs typeface="Arial"/>
              </a:rPr>
              <a:t>23 instâncias de telas e fluxos Swing</a:t>
            </a:r>
          </a:p>
        </p:txBody>
      </p:sp>
      <p:sp>
        <p:nvSpPr>
          <p:cNvPr id="7" name="Pagamento e entrega simulados&#10;Aplicação desktop se">
            <a:extLst xmlns:a="http://schemas.openxmlformats.org/drawingml/2006/main">
              <a:ext uri="{FF2B5EF4-FFF2-40B4-BE49-F238E27FC236}">
                <a16:creationId xmlns:a16="http://schemas.microsoft.com/office/drawing/2014/main" id="{9BC12030-AE29-4724-98A1-D6EF1ABA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Pagamento e entrega simulados</a:t>
            </a:r>
          </a:p>
          <a:p xmlns:a="http://schemas.openxmlformats.org/drawingml/2006/main">
            <a:pPr>
              <a:defRPr sz="2550" b="1">
                <a:solidFill>
                  <a:srgbClr val="2030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049"/>
                </a:solidFill>
                <a:latin typeface="Arial"/>
                <a:ea typeface="Arial"/>
                <a:cs typeface="Arial"/>
              </a:rPr>
              <a:t>Aplicação desktop sem site público</a:t>
            </a:r>
          </a:p>
        </p:txBody>
      </p:sp>
    </p:spTree>
    <p:extLst>
      <p:ext uri="{BB962C8B-B14F-4D97-AF65-F5344CB8AC3E}">
        <p14:creationId xmlns:p14="http://schemas.microsoft.com/office/powerpoint/2010/main" val="1425739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2026-10-11T10:01:18.5690000Z</dcterms:created>
  <dcterms:modified xsi:type="dcterms:W3CDTF">2026-10-11T10:01:18.5690000Z</dcterms:modified>
</coreProperties>
</file>